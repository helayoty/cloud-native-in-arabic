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2" r:id="rId3"/>
    <p:sldId id="273" r:id="rId4"/>
    <p:sldId id="274" r:id="rId5"/>
    <p:sldId id="284" r:id="rId6"/>
    <p:sldId id="257" r:id="rId7"/>
    <p:sldId id="282" r:id="rId8"/>
    <p:sldId id="258" r:id="rId9"/>
    <p:sldId id="283" r:id="rId10"/>
    <p:sldId id="290" r:id="rId11"/>
    <p:sldId id="260" r:id="rId12"/>
    <p:sldId id="279" r:id="rId13"/>
    <p:sldId id="261" r:id="rId14"/>
    <p:sldId id="286" r:id="rId15"/>
    <p:sldId id="262" r:id="rId16"/>
    <p:sldId id="278" r:id="rId17"/>
    <p:sldId id="289" r:id="rId18"/>
    <p:sldId id="265" r:id="rId19"/>
    <p:sldId id="263" r:id="rId20"/>
    <p:sldId id="264" r:id="rId21"/>
    <p:sldId id="266" r:id="rId22"/>
    <p:sldId id="267" r:id="rId23"/>
    <p:sldId id="268" r:id="rId24"/>
    <p:sldId id="269" r:id="rId25"/>
    <p:sldId id="270" r:id="rId26"/>
    <p:sldId id="287" r:id="rId27"/>
    <p:sldId id="285" r:id="rId28"/>
    <p:sldId id="288" r:id="rId29"/>
    <p:sldId id="276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8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394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25261-9C30-1220-27D1-A0FF1B8E5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BA6E0-C9AC-6B57-BF99-20A9BFAE0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2F3E9-18B9-4B7C-AE47-28C9262B8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4A897-AA81-7B1C-D10D-CE9C80734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77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3626-C111-A2F2-3944-B1E3CD1D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A96A1-BE4F-E272-19F3-A9A84050C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6579B-7B54-45B1-8EFC-5DE0B2D76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41134-992D-11E5-A972-D5E62CD8B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802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0F533-2599-1E8E-2B85-43D60F8E5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D893A-4C9C-3D7A-3D9E-A2A688D16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B6706-D684-D925-0861-18FE497785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39CB0-842B-9B4A-E990-9E6C4F1AC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537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1CC60-B6B5-FC38-4AF3-D2C072DC3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1A964-8F5A-E69A-7D92-B767C22E2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5253-05BE-AE3D-8E91-4992700EA5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7FA27-D2E3-8027-DAC1-1416F5C9E0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24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FE46-6528-8DEE-1B0B-13E9989A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B551A-7710-772B-987B-13EAB33C8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CE529-39E6-AB3E-7359-B4F9581CB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101BD-F2CE-2009-C651-C57EB77572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5096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3707-BEC9-65CB-9FA0-1BEB2D9A7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97AF5A-607D-1274-7420-5F3BEEF0A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92A83-7A7C-5AF9-AEA5-DEBF13D62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8DC31-2BD4-D1F6-020B-4C02C51482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213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C414-2DAA-924C-0DBB-C54527A8C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5B91D-8587-D3BD-8112-1F3E65B8B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924F6-CB4C-B607-1096-83B3D8D71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C7AF9-5F96-CBEF-96FF-1B7E77F49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9554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labs.iximiuz.com/skill-paths?category=container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demy.com/course/complete-docker-kubernetes" TargetMode="External"/><Relationship Id="rId5" Type="http://schemas.openxmlformats.org/officeDocument/2006/relationships/hyperlink" Target="https://learn.kodekloud.com/user/courses/docker-training-course-for-the-absolute-beginner" TargetMode="External"/><Relationship Id="rId4" Type="http://schemas.openxmlformats.org/officeDocument/2006/relationships/hyperlink" Target="https://docs.docker.com/network/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5257" y="1790700"/>
            <a:ext cx="4213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500"/>
              </a:spcAft>
              <a:buNone/>
            </a:pPr>
            <a:r>
              <a:rPr lang="en-US" sz="54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298119" y="2647950"/>
            <a:ext cx="45476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en-US" sz="225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SCRATCH TO PRODUCTION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298119" y="3105150"/>
            <a:ext cx="45476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into kernel primitives and container runtimes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8197" y="4400550"/>
            <a:ext cx="23259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Workshop |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2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indent="0" fontAlgn="auto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WHY DO WE NEED CONTAINERS?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Deployment Era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85538" y="1163014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5598" y="1327767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628488" y="1163014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868548" y="1327767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71438" y="1163014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11498" y="1327767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6488" y="1715464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72665" y="1825894"/>
            <a:ext cx="997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6488" y="2172664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14064" y="2283094"/>
            <a:ext cx="505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25040" y="2706064"/>
            <a:ext cx="10949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6488" y="3027519"/>
            <a:ext cx="3810000" cy="731341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85538" y="3027519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56988" y="3179919"/>
            <a:ext cx="3536442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Applications ran directly on physical servers with no way to define resource boundaries.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6488" y="3911260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6488" y="416069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Resource allocation conflicts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66488" y="4396886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Underutilized servers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66488" y="4633077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Expensive to maintain multiple servers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2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WHY DO WE NEED CONTAINERS?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Virtualized Deployment Era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33358" y="768346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9558" y="84454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410476" y="92074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9558" y="116839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78776" y="121036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9558" y="1396996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28025" y="1458016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33458" y="768346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09658" y="84454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10576" y="92074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09658" y="116839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78876" y="121036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09658" y="1396996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28125" y="1458016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33558" y="768346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9758" y="84454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10676" y="92074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09758" y="116839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78976" y="121036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9758" y="1396996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28225" y="1458016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200033" y="173989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2A314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44930" y="1818924"/>
            <a:ext cx="5108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Hypervisor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200033" y="208279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88686" y="2161824"/>
            <a:ext cx="421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00033" y="242569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068296" y="2504724"/>
            <a:ext cx="4633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757543" y="2844796"/>
            <a:ext cx="10970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Virtualized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133358" y="3105692"/>
            <a:ext cx="3473177" cy="944612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133359" y="3089470"/>
            <a:ext cx="0" cy="944612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213804" y="3214411"/>
            <a:ext cx="3392731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VMs allow multiple virtual machines on a single physical server's CPU, providing isolation and better resource utilization.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293871" y="4202704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93871" y="445214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Better resource utilization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93871" y="468833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Isolation between applications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293871" y="4924520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Reduced hardware costs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FE025684-C801-CD17-D49D-68C6B9BB58A3}"/>
              </a:ext>
            </a:extLst>
          </p:cNvPr>
          <p:cNvSpPr/>
          <p:nvPr/>
        </p:nvSpPr>
        <p:spPr>
          <a:xfrm>
            <a:off x="656042" y="1287161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AF2EFB47-2913-2731-C44E-83BD76794966}"/>
              </a:ext>
            </a:extLst>
          </p:cNvPr>
          <p:cNvSpPr/>
          <p:nvPr/>
        </p:nvSpPr>
        <p:spPr>
          <a:xfrm>
            <a:off x="896102" y="1451914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283E99A7-B5F4-3D28-543E-C7402D8F44EC}"/>
              </a:ext>
            </a:extLst>
          </p:cNvPr>
          <p:cNvSpPr/>
          <p:nvPr/>
        </p:nvSpPr>
        <p:spPr>
          <a:xfrm>
            <a:off x="1398992" y="1287161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D5FC20FD-6363-40DE-634B-7308C8D1C9D1}"/>
              </a:ext>
            </a:extLst>
          </p:cNvPr>
          <p:cNvSpPr/>
          <p:nvPr/>
        </p:nvSpPr>
        <p:spPr>
          <a:xfrm>
            <a:off x="1639052" y="1451914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671BE9DF-B875-540B-EB3C-363B5B54B400}"/>
              </a:ext>
            </a:extLst>
          </p:cNvPr>
          <p:cNvSpPr/>
          <p:nvPr/>
        </p:nvSpPr>
        <p:spPr>
          <a:xfrm>
            <a:off x="2141942" y="1287161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5B36060E-A932-7D25-B876-9ECE05ADEC00}"/>
              </a:ext>
            </a:extLst>
          </p:cNvPr>
          <p:cNvSpPr/>
          <p:nvPr/>
        </p:nvSpPr>
        <p:spPr>
          <a:xfrm>
            <a:off x="2382002" y="1451914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37E7594B-9296-C10B-6227-04235E79563D}"/>
              </a:ext>
            </a:extLst>
          </p:cNvPr>
          <p:cNvSpPr/>
          <p:nvPr/>
        </p:nvSpPr>
        <p:spPr>
          <a:xfrm>
            <a:off x="636992" y="1839611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49E71106-D3A7-4F67-27B5-64EB43886500}"/>
              </a:ext>
            </a:extLst>
          </p:cNvPr>
          <p:cNvSpPr/>
          <p:nvPr/>
        </p:nvSpPr>
        <p:spPr>
          <a:xfrm>
            <a:off x="1243169" y="1950041"/>
            <a:ext cx="997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702BD0DB-B5DD-AA70-4D82-847A7CC5DD6E}"/>
              </a:ext>
            </a:extLst>
          </p:cNvPr>
          <p:cNvSpPr/>
          <p:nvPr/>
        </p:nvSpPr>
        <p:spPr>
          <a:xfrm>
            <a:off x="636992" y="2296811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11">
            <a:extLst>
              <a:ext uri="{FF2B5EF4-FFF2-40B4-BE49-F238E27FC236}">
                <a16:creationId xmlns:a16="http://schemas.microsoft.com/office/drawing/2014/main" id="{575E5485-E048-C368-C773-34083B45F474}"/>
              </a:ext>
            </a:extLst>
          </p:cNvPr>
          <p:cNvSpPr/>
          <p:nvPr/>
        </p:nvSpPr>
        <p:spPr>
          <a:xfrm>
            <a:off x="1484568" y="2407241"/>
            <a:ext cx="505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5AF988F7-D740-D11F-EE9F-D04D5A3CA1C2}"/>
              </a:ext>
            </a:extLst>
          </p:cNvPr>
          <p:cNvSpPr/>
          <p:nvPr/>
        </p:nvSpPr>
        <p:spPr>
          <a:xfrm>
            <a:off x="1195544" y="2830211"/>
            <a:ext cx="10949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3C539AE5-CFFE-89B3-F3B3-6257A631107C}"/>
              </a:ext>
            </a:extLst>
          </p:cNvPr>
          <p:cNvSpPr/>
          <p:nvPr/>
        </p:nvSpPr>
        <p:spPr>
          <a:xfrm>
            <a:off x="2867265" y="1788563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62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WHY DO WE NEED CONTAINERS?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60960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Container Deployment Era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33430" y="915066"/>
            <a:ext cx="762000" cy="704850"/>
          </a:xfrm>
          <a:prstGeom prst="roundRect">
            <a:avLst>
              <a:gd name="adj" fmla="val 5405"/>
            </a:avLst>
          </a:prstGeom>
          <a:noFill/>
          <a:ln w="19050">
            <a:solidFill>
              <a:srgbClr val="00D9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28680" y="101031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29598" y="108651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28680" y="133416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197898" y="137613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771630" y="915066"/>
            <a:ext cx="762000" cy="704850"/>
          </a:xfrm>
          <a:prstGeom prst="roundRect">
            <a:avLst>
              <a:gd name="adj" fmla="val 5405"/>
            </a:avLst>
          </a:prstGeom>
          <a:noFill/>
          <a:ln w="19050">
            <a:solidFill>
              <a:srgbClr val="00D9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66880" y="101031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67798" y="108651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66880" y="133416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36098" y="137613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09830" y="915066"/>
            <a:ext cx="762000" cy="704850"/>
          </a:xfrm>
          <a:prstGeom prst="roundRect">
            <a:avLst>
              <a:gd name="adj" fmla="val 5405"/>
            </a:avLst>
          </a:prstGeom>
          <a:noFill/>
          <a:ln w="19050">
            <a:solidFill>
              <a:srgbClr val="00D9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05080" y="1010316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905998" y="1086516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05080" y="1334166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74298" y="1376136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57255" y="165801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83970" y="1737044"/>
            <a:ext cx="9560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57255" y="200091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2A314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33232" y="2079944"/>
            <a:ext cx="8554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57255" y="2343816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925518" y="2422844"/>
            <a:ext cx="4633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31285" y="2762916"/>
            <a:ext cx="10633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Container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628630" y="3043530"/>
            <a:ext cx="3441328" cy="731341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647680" y="3043530"/>
            <a:ext cx="0" cy="731341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819130" y="3195930"/>
            <a:ext cx="3194241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Containers share the OS kernel, are lightweight, and provide isolation at the process level.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819130" y="3908889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19130" y="4158324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Lightweight (no Guest OS overhead)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819130" y="439451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Fast startup times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819130" y="463070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Consistent across environments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19130" y="4866895"/>
            <a:ext cx="38862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 High density deployments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ADC6D228-B0E8-9BAC-8C06-4BD56B546F99}"/>
              </a:ext>
            </a:extLst>
          </p:cNvPr>
          <p:cNvSpPr/>
          <p:nvPr/>
        </p:nvSpPr>
        <p:spPr>
          <a:xfrm>
            <a:off x="3265829" y="685800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CC03D986-2638-8C5A-AB8F-21684D415674}"/>
              </a:ext>
            </a:extLst>
          </p:cNvPr>
          <p:cNvSpPr/>
          <p:nvPr/>
        </p:nvSpPr>
        <p:spPr>
          <a:xfrm>
            <a:off x="3342029" y="762000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D2F84389-1A52-2A5A-8215-9E0E1A99FA21}"/>
              </a:ext>
            </a:extLst>
          </p:cNvPr>
          <p:cNvSpPr/>
          <p:nvPr/>
        </p:nvSpPr>
        <p:spPr>
          <a:xfrm>
            <a:off x="3542947" y="838200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22D50357-3BEE-5DCB-07C7-D0462097CC35}"/>
              </a:ext>
            </a:extLst>
          </p:cNvPr>
          <p:cNvSpPr/>
          <p:nvPr/>
        </p:nvSpPr>
        <p:spPr>
          <a:xfrm>
            <a:off x="3342029" y="1085850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51A43FAD-C6A5-DA4F-6631-B88738311DA5}"/>
              </a:ext>
            </a:extLst>
          </p:cNvPr>
          <p:cNvSpPr/>
          <p:nvPr/>
        </p:nvSpPr>
        <p:spPr>
          <a:xfrm>
            <a:off x="3511247" y="1127820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6D33C741-2C0A-36F4-87E6-095C142F55AF}"/>
              </a:ext>
            </a:extLst>
          </p:cNvPr>
          <p:cNvSpPr/>
          <p:nvPr/>
        </p:nvSpPr>
        <p:spPr>
          <a:xfrm>
            <a:off x="3342029" y="1314450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7184895E-AC24-6EC9-F916-B16461AED7B3}"/>
              </a:ext>
            </a:extLst>
          </p:cNvPr>
          <p:cNvSpPr/>
          <p:nvPr/>
        </p:nvSpPr>
        <p:spPr>
          <a:xfrm>
            <a:off x="3460496" y="1375470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292A401-9FFA-C6FF-B11D-16195B1EE20A}"/>
              </a:ext>
            </a:extLst>
          </p:cNvPr>
          <p:cNvSpPr/>
          <p:nvPr/>
        </p:nvSpPr>
        <p:spPr>
          <a:xfrm>
            <a:off x="4065929" y="685800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F49FCC0D-F369-B06D-DEA8-6B29F2174D57}"/>
              </a:ext>
            </a:extLst>
          </p:cNvPr>
          <p:cNvSpPr/>
          <p:nvPr/>
        </p:nvSpPr>
        <p:spPr>
          <a:xfrm>
            <a:off x="4142129" y="762000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019AD5C-393E-14EC-3B87-C97D4EF8442C}"/>
              </a:ext>
            </a:extLst>
          </p:cNvPr>
          <p:cNvSpPr/>
          <p:nvPr/>
        </p:nvSpPr>
        <p:spPr>
          <a:xfrm>
            <a:off x="4343047" y="838200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0A0E0BA8-2C5A-262E-FAA7-520C486A14F0}"/>
              </a:ext>
            </a:extLst>
          </p:cNvPr>
          <p:cNvSpPr/>
          <p:nvPr/>
        </p:nvSpPr>
        <p:spPr>
          <a:xfrm>
            <a:off x="4142129" y="1085850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2E80BE04-DEEF-4039-53AF-EC44FCAE71DE}"/>
              </a:ext>
            </a:extLst>
          </p:cNvPr>
          <p:cNvSpPr/>
          <p:nvPr/>
        </p:nvSpPr>
        <p:spPr>
          <a:xfrm>
            <a:off x="4311347" y="1127820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50973188-E02F-6D11-E72B-747AC9E246F9}"/>
              </a:ext>
            </a:extLst>
          </p:cNvPr>
          <p:cNvSpPr/>
          <p:nvPr/>
        </p:nvSpPr>
        <p:spPr>
          <a:xfrm>
            <a:off x="4142129" y="1314450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C3C957C8-B7CF-7D8E-1C1E-6C48B591F19B}"/>
              </a:ext>
            </a:extLst>
          </p:cNvPr>
          <p:cNvSpPr/>
          <p:nvPr/>
        </p:nvSpPr>
        <p:spPr>
          <a:xfrm>
            <a:off x="4260596" y="1375470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59CFB10-1E8D-E16D-C8DB-D325911F8220}"/>
              </a:ext>
            </a:extLst>
          </p:cNvPr>
          <p:cNvSpPr/>
          <p:nvPr/>
        </p:nvSpPr>
        <p:spPr>
          <a:xfrm>
            <a:off x="4866029" y="685800"/>
            <a:ext cx="723900" cy="933450"/>
          </a:xfrm>
          <a:prstGeom prst="roundRect">
            <a:avLst>
              <a:gd name="adj" fmla="val 526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EBB9DCE6-AF27-80C9-4B6B-8BED125BDFE0}"/>
              </a:ext>
            </a:extLst>
          </p:cNvPr>
          <p:cNvSpPr/>
          <p:nvPr/>
        </p:nvSpPr>
        <p:spPr>
          <a:xfrm>
            <a:off x="4942229" y="762000"/>
            <a:ext cx="571500" cy="28575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8C80CED2-9530-1EFF-6504-47C4C1042997}"/>
              </a:ext>
            </a:extLst>
          </p:cNvPr>
          <p:cNvSpPr/>
          <p:nvPr/>
        </p:nvSpPr>
        <p:spPr>
          <a:xfrm>
            <a:off x="5143147" y="838200"/>
            <a:ext cx="1729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C0EABB15-A4C5-9395-B23A-53CD6207DBA1}"/>
              </a:ext>
            </a:extLst>
          </p:cNvPr>
          <p:cNvSpPr/>
          <p:nvPr/>
        </p:nvSpPr>
        <p:spPr>
          <a:xfrm>
            <a:off x="4942229" y="1085850"/>
            <a:ext cx="571500" cy="190500"/>
          </a:xfrm>
          <a:prstGeom prst="roundRect">
            <a:avLst>
              <a:gd name="adj" fmla="val 1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3C01E0B3-FD22-65EA-EADE-C364C376B075}"/>
              </a:ext>
            </a:extLst>
          </p:cNvPr>
          <p:cNvSpPr/>
          <p:nvPr/>
        </p:nvSpPr>
        <p:spPr>
          <a:xfrm>
            <a:off x="5111447" y="1127820"/>
            <a:ext cx="237726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Bin/Lib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16330D68-9C0A-63B1-B5DD-237C9480BA46}"/>
              </a:ext>
            </a:extLst>
          </p:cNvPr>
          <p:cNvSpPr/>
          <p:nvPr/>
        </p:nvSpPr>
        <p:spPr>
          <a:xfrm>
            <a:off x="4942229" y="1314450"/>
            <a:ext cx="571500" cy="2286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8A50EFE1-E40A-F480-5860-7B43F2FFB871}"/>
              </a:ext>
            </a:extLst>
          </p:cNvPr>
          <p:cNvSpPr/>
          <p:nvPr/>
        </p:nvSpPr>
        <p:spPr>
          <a:xfrm>
            <a:off x="5060696" y="1375470"/>
            <a:ext cx="34125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Guest OS</a:t>
            </a: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CA731870-4EF7-4531-B9DF-2982961E50A1}"/>
              </a:ext>
            </a:extLst>
          </p:cNvPr>
          <p:cNvSpPr/>
          <p:nvPr/>
        </p:nvSpPr>
        <p:spPr>
          <a:xfrm>
            <a:off x="3332504" y="1657350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2A3142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311C19DA-FC2A-4094-38A7-0BE6377ED1F1}"/>
              </a:ext>
            </a:extLst>
          </p:cNvPr>
          <p:cNvSpPr/>
          <p:nvPr/>
        </p:nvSpPr>
        <p:spPr>
          <a:xfrm>
            <a:off x="4177401" y="1736378"/>
            <a:ext cx="5108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Hypervisor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F5477040-C9FC-74BA-7B88-4935FD5C34A5}"/>
              </a:ext>
            </a:extLst>
          </p:cNvPr>
          <p:cNvSpPr/>
          <p:nvPr/>
        </p:nvSpPr>
        <p:spPr>
          <a:xfrm>
            <a:off x="3332504" y="2000250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E5F449C-4234-6A8E-E796-FB5DE28D9040}"/>
              </a:ext>
            </a:extLst>
          </p:cNvPr>
          <p:cNvSpPr/>
          <p:nvPr/>
        </p:nvSpPr>
        <p:spPr>
          <a:xfrm>
            <a:off x="4221157" y="2079278"/>
            <a:ext cx="4217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Host OS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90257124-A4EE-3EDC-34CB-601A43D683DF}"/>
              </a:ext>
            </a:extLst>
          </p:cNvPr>
          <p:cNvSpPr/>
          <p:nvPr/>
        </p:nvSpPr>
        <p:spPr>
          <a:xfrm>
            <a:off x="3332504" y="2343150"/>
            <a:ext cx="2190750" cy="304800"/>
          </a:xfrm>
          <a:prstGeom prst="roundRect">
            <a:avLst>
              <a:gd name="adj" fmla="val 125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B400ACA7-7E47-FACE-9091-160BAB22C735}"/>
              </a:ext>
            </a:extLst>
          </p:cNvPr>
          <p:cNvSpPr/>
          <p:nvPr/>
        </p:nvSpPr>
        <p:spPr>
          <a:xfrm>
            <a:off x="4200767" y="2422178"/>
            <a:ext cx="46330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A795A08E-43FA-74F0-CDD1-FDE074F35892}"/>
              </a:ext>
            </a:extLst>
          </p:cNvPr>
          <p:cNvSpPr/>
          <p:nvPr/>
        </p:nvSpPr>
        <p:spPr>
          <a:xfrm>
            <a:off x="3890014" y="2762250"/>
            <a:ext cx="10970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Virtualized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2">
            <a:extLst>
              <a:ext uri="{FF2B5EF4-FFF2-40B4-BE49-F238E27FC236}">
                <a16:creationId xmlns:a16="http://schemas.microsoft.com/office/drawing/2014/main" id="{2D59702D-E768-48D9-AFE5-1C1D77649E1F}"/>
              </a:ext>
            </a:extLst>
          </p:cNvPr>
          <p:cNvSpPr/>
          <p:nvPr/>
        </p:nvSpPr>
        <p:spPr>
          <a:xfrm>
            <a:off x="747574" y="1243980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2BD86174-F4CC-AF30-8580-F76A9CE173E8}"/>
              </a:ext>
            </a:extLst>
          </p:cNvPr>
          <p:cNvSpPr/>
          <p:nvPr/>
        </p:nvSpPr>
        <p:spPr>
          <a:xfrm>
            <a:off x="987634" y="1408733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4">
            <a:extLst>
              <a:ext uri="{FF2B5EF4-FFF2-40B4-BE49-F238E27FC236}">
                <a16:creationId xmlns:a16="http://schemas.microsoft.com/office/drawing/2014/main" id="{1DB28E32-DB92-60AB-783A-A1BE1742FD96}"/>
              </a:ext>
            </a:extLst>
          </p:cNvPr>
          <p:cNvSpPr/>
          <p:nvPr/>
        </p:nvSpPr>
        <p:spPr>
          <a:xfrm>
            <a:off x="1490524" y="1243980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81C47440-8BF0-7312-6C79-B2A0A33AF866}"/>
              </a:ext>
            </a:extLst>
          </p:cNvPr>
          <p:cNvSpPr/>
          <p:nvPr/>
        </p:nvSpPr>
        <p:spPr>
          <a:xfrm>
            <a:off x="1730584" y="1408733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0B172747-5828-2575-1572-CABD7B779F38}"/>
              </a:ext>
            </a:extLst>
          </p:cNvPr>
          <p:cNvSpPr/>
          <p:nvPr/>
        </p:nvSpPr>
        <p:spPr>
          <a:xfrm>
            <a:off x="2233474" y="1243980"/>
            <a:ext cx="666750" cy="47625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5F04F47A-142D-2F05-B919-DADCF853CDBF}"/>
              </a:ext>
            </a:extLst>
          </p:cNvPr>
          <p:cNvSpPr/>
          <p:nvPr/>
        </p:nvSpPr>
        <p:spPr>
          <a:xfrm>
            <a:off x="2473534" y="1408733"/>
            <a:ext cx="1902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82AC68C0-220F-76DC-A2DB-ED7DB194C8B8}"/>
              </a:ext>
            </a:extLst>
          </p:cNvPr>
          <p:cNvSpPr/>
          <p:nvPr/>
        </p:nvSpPr>
        <p:spPr>
          <a:xfrm>
            <a:off x="728524" y="1796430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Text 9">
            <a:extLst>
              <a:ext uri="{FF2B5EF4-FFF2-40B4-BE49-F238E27FC236}">
                <a16:creationId xmlns:a16="http://schemas.microsoft.com/office/drawing/2014/main" id="{C28779E5-CC96-7726-EE3D-974A49A9850B}"/>
              </a:ext>
            </a:extLst>
          </p:cNvPr>
          <p:cNvSpPr/>
          <p:nvPr/>
        </p:nvSpPr>
        <p:spPr>
          <a:xfrm>
            <a:off x="1334701" y="1906860"/>
            <a:ext cx="9978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A0E1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Operating System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10">
            <a:extLst>
              <a:ext uri="{FF2B5EF4-FFF2-40B4-BE49-F238E27FC236}">
                <a16:creationId xmlns:a16="http://schemas.microsoft.com/office/drawing/2014/main" id="{979A83B6-D180-7E92-9F2D-33957A9EE911}"/>
              </a:ext>
            </a:extLst>
          </p:cNvPr>
          <p:cNvSpPr/>
          <p:nvPr/>
        </p:nvSpPr>
        <p:spPr>
          <a:xfrm>
            <a:off x="728524" y="2253630"/>
            <a:ext cx="2190750" cy="38100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19050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11">
            <a:extLst>
              <a:ext uri="{FF2B5EF4-FFF2-40B4-BE49-F238E27FC236}">
                <a16:creationId xmlns:a16="http://schemas.microsoft.com/office/drawing/2014/main" id="{92FB804B-8096-3778-ECFB-2F2EF0D2470B}"/>
              </a:ext>
            </a:extLst>
          </p:cNvPr>
          <p:cNvSpPr/>
          <p:nvPr/>
        </p:nvSpPr>
        <p:spPr>
          <a:xfrm>
            <a:off x="1576100" y="2364060"/>
            <a:ext cx="5055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12">
            <a:extLst>
              <a:ext uri="{FF2B5EF4-FFF2-40B4-BE49-F238E27FC236}">
                <a16:creationId xmlns:a16="http://schemas.microsoft.com/office/drawing/2014/main" id="{C7D7EBB3-AF1F-BBD9-56EC-6EA04F0BAA86}"/>
              </a:ext>
            </a:extLst>
          </p:cNvPr>
          <p:cNvSpPr/>
          <p:nvPr/>
        </p:nvSpPr>
        <p:spPr>
          <a:xfrm>
            <a:off x="1287076" y="2787030"/>
            <a:ext cx="10949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Deployment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61DF97BF-56CA-EC6E-2C52-E3052312AFA6}"/>
              </a:ext>
            </a:extLst>
          </p:cNvPr>
          <p:cNvSpPr/>
          <p:nvPr/>
        </p:nvSpPr>
        <p:spPr>
          <a:xfrm>
            <a:off x="3024983" y="1852613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CC0A50E6-E2E4-E0E7-C1C8-0C9FD5A2F251}"/>
              </a:ext>
            </a:extLst>
          </p:cNvPr>
          <p:cNvSpPr/>
          <p:nvPr/>
        </p:nvSpPr>
        <p:spPr>
          <a:xfrm>
            <a:off x="5654237" y="1852612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9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54711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THE HISTORY OF CONTAINERS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51435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From Unix origins to cloud-native orchestration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tmp/rasterized-gradient-1eccc5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870918"/>
            <a:ext cx="8534400" cy="381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4800" y="2099518"/>
            <a:ext cx="1827312" cy="990154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304800" y="2113806"/>
            <a:ext cx="1827312" cy="0"/>
          </a:xfrm>
          <a:prstGeom prst="line">
            <a:avLst/>
          </a:prstGeom>
          <a:noFill/>
          <a:ln w="28575">
            <a:solidFill>
              <a:srgbClr val="8892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400050" y="2223343"/>
            <a:ext cx="1669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1979 - 2000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0050" y="2394793"/>
            <a:ext cx="1669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Early Foundations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0050" y="2598539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1979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Unix V7 chroot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0050" y="2743200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chroot in BSD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0050" y="2887861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FreeBSD Jails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208312" y="2099518"/>
            <a:ext cx="1827312" cy="990154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208312" y="2113806"/>
            <a:ext cx="1827312" cy="0"/>
          </a:xfrm>
          <a:prstGeom prst="line">
            <a:avLst/>
          </a:prstGeom>
          <a:noFill/>
          <a:ln w="28575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03562" y="2223343"/>
            <a:ext cx="16695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2002 - 2008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303562" y="2394793"/>
            <a:ext cx="16695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Linux Innovations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303562" y="2598539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2002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Linux namespaces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303562" y="2743200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2006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cgroups (Google)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03562" y="2887861"/>
            <a:ext cx="166954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LXC (Linux Containers)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111823" y="2099518"/>
            <a:ext cx="2325588" cy="990154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1823" y="2113806"/>
            <a:ext cx="2325588" cy="0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207073" y="2223343"/>
            <a:ext cx="2177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2013 - 2015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207073" y="2394793"/>
            <a:ext cx="2177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 Revolution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07073" y="2598539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2013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Docker released (dotCloud)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207073" y="2743200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Docker 1.0, Docker Hub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207073" y="2887861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OCI founded, runc released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13612" y="2099518"/>
            <a:ext cx="2325588" cy="990154"/>
          </a:xfrm>
          <a:prstGeom prst="rect">
            <a:avLst/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513612" y="2113806"/>
            <a:ext cx="2325588" cy="0"/>
          </a:xfrm>
          <a:prstGeom prst="line">
            <a:avLst/>
          </a:prstGeom>
          <a:noFill/>
          <a:ln w="28575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608862" y="2223343"/>
            <a:ext cx="2177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2014 - Present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608862" y="2394793"/>
            <a:ext cx="21777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Cloud Native Era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608862" y="2598539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Kubernetes (Google)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608862" y="2743200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CNCF founded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608862" y="2887861"/>
            <a:ext cx="217779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8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containerd donated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04800" y="3242072"/>
            <a:ext cx="2768650" cy="399901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19088" y="3242072"/>
            <a:ext cx="0" cy="399901"/>
          </a:xfrm>
          <a:prstGeom prst="line">
            <a:avLst/>
          </a:prstGeom>
          <a:noFill/>
          <a:ln w="28575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28625" y="3318272"/>
            <a:ext cx="2600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28625" y="3466802"/>
            <a:ext cx="260056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Isolate what processes can see: PID, network, mount, user, UTS, IPC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187750" y="3242072"/>
            <a:ext cx="2768650" cy="399901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3202037" y="3242072"/>
            <a:ext cx="0" cy="399901"/>
          </a:xfrm>
          <a:prstGeom prst="line">
            <a:avLst/>
          </a:prstGeom>
          <a:noFill/>
          <a:ln w="28575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311575" y="3318272"/>
            <a:ext cx="2600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CGROUPS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311575" y="3466802"/>
            <a:ext cx="260056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Limit what processes can use: CPU, memory, I/O, network bandwidth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070699" y="3242072"/>
            <a:ext cx="2768650" cy="399901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084987" y="3242072"/>
            <a:ext cx="0" cy="399901"/>
          </a:xfrm>
          <a:prstGeom prst="line">
            <a:avLst/>
          </a:prstGeom>
          <a:noFill/>
          <a:ln w="28575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194524" y="3318272"/>
            <a:ext cx="260056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22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DOCKER'S CONTRIBUTION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194524" y="3466802"/>
            <a:ext cx="260056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7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Developer UX, image format, registry, build tooling, ecosystem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IS A CONTAINER?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514475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1514475"/>
            <a:ext cx="0" cy="49530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52450" y="1647825"/>
            <a:ext cx="8238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isolated process with controlled access to system resources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124075"/>
            <a:ext cx="2717750" cy="60960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2238375"/>
            <a:ext cx="253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VM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5300" y="2466975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on host kernel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13050" y="2124075"/>
            <a:ext cx="2717750" cy="60960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7350" y="2238375"/>
            <a:ext cx="253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27350" y="2466975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features only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45101" y="2124075"/>
            <a:ext cx="2717750" cy="609600"/>
          </a:xfrm>
          <a:prstGeom prst="roundRect">
            <a:avLst>
              <a:gd name="adj" fmla="val 1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59401" y="2238375"/>
            <a:ext cx="25389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SECURE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59401" y="2466975"/>
            <a:ext cx="2538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config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2905125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000" y="31527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Namespaces: Isolate what a process can SEE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1000" y="33909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Cgroups: Limit what a process can USE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000" y="36290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Union filesystems: Layer the filesystem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1000" y="38671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Capabilities: Fine-grained privilege control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1000" y="4400550"/>
            <a:ext cx="4957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execution environment with explicit boundaries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E577B-31D3-9769-6EB2-CB7D99D7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17826D1-2317-C229-A28C-AC50F24E4F80}"/>
              </a:ext>
            </a:extLst>
          </p:cNvPr>
          <p:cNvSpPr/>
          <p:nvPr/>
        </p:nvSpPr>
        <p:spPr>
          <a:xfrm>
            <a:off x="359830" y="1856784"/>
            <a:ext cx="2980801" cy="105310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Container Lifecycle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F1E9D4-17C5-3EBF-0F3C-E3D8F5FD908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060800" y="0"/>
            <a:ext cx="4435199" cy="51435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108C0F1-B787-FFB8-0739-7911486820A6}"/>
              </a:ext>
            </a:extLst>
          </p:cNvPr>
          <p:cNvSpPr txBox="1"/>
          <p:nvPr/>
        </p:nvSpPr>
        <p:spPr>
          <a:xfrm>
            <a:off x="538067" y="2787525"/>
            <a:ext cx="2529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 err="1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runc</a:t>
            </a:r>
            <a:r>
              <a:rPr lang="en-US" sz="1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 + Linux Kernel</a:t>
            </a:r>
          </a:p>
        </p:txBody>
      </p:sp>
    </p:spTree>
    <p:extLst>
      <p:ext uri="{BB962C8B-B14F-4D97-AF65-F5344CB8AC3E}">
        <p14:creationId xmlns:p14="http://schemas.microsoft.com/office/powerpoint/2010/main" val="2300930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CONTAINERS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33475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run a container, the following happens: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419225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5676" y="1457325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0100" y="1419225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syscall with namespace flags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647825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namespaces (PID, mount, network, etc.). Child process lives in isolated namespace view.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1876425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5676" y="1914525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" y="1876425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Cgroup 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105025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added to cgroup hierarchy. Resource limits enforced by kernel.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333625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5676" y="2371725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" y="2333625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preparation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2562225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namespace established. Root filesystem pivoted (pivot_root). Union filesystem mounted.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2790825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5676" y="2828925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" y="2790825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dropped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" y="3019425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starts with reduced privileges. Even UID 0 inside has restricted capabilities.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1000" y="3248025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5676" y="3286125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0100" y="3248025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exec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0100" y="3476625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runtime execs your application. Application thinks it's alone on the system.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1000" y="3800475"/>
            <a:ext cx="8382000" cy="647700"/>
          </a:xfrm>
          <a:prstGeom prst="roundRect">
            <a:avLst>
              <a:gd name="adj" fmla="val 9412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4350" y="3933825"/>
            <a:ext cx="8277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Your kernel is doing ALL the work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4350" y="4162425"/>
            <a:ext cx="82776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runtime just orchestrates syscalls. No hypervisor, no separate kernel.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6546" y="4486275"/>
            <a:ext cx="28299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kernel feature orchestration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1594B-C4BB-05D0-3A2A-FAB471960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5D278A-5A6D-B09F-B928-54C578723AA8}"/>
              </a:ext>
            </a:extLst>
          </p:cNvPr>
          <p:cNvSpPr/>
          <p:nvPr/>
        </p:nvSpPr>
        <p:spPr>
          <a:xfrm>
            <a:off x="3890814" y="973485"/>
            <a:ext cx="1362224" cy="339030"/>
          </a:xfrm>
          <a:prstGeom prst="roundRect">
            <a:avLst>
              <a:gd name="adj" fmla="val 5619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57A805-1EFC-6FAC-4B43-812DC1718618}"/>
              </a:ext>
            </a:extLst>
          </p:cNvPr>
          <p:cNvSpPr/>
          <p:nvPr/>
        </p:nvSpPr>
        <p:spPr>
          <a:xfrm>
            <a:off x="4110363" y="1049685"/>
            <a:ext cx="923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DEMO 1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500759-7EEB-5F62-C99B-B8851946A207}"/>
              </a:ext>
            </a:extLst>
          </p:cNvPr>
          <p:cNvSpPr/>
          <p:nvPr/>
        </p:nvSpPr>
        <p:spPr>
          <a:xfrm>
            <a:off x="2382217" y="1541115"/>
            <a:ext cx="46089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CONTAINER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01073F0-D9B7-932D-A024-ACF61DAD9776}"/>
              </a:ext>
            </a:extLst>
          </p:cNvPr>
          <p:cNvSpPr/>
          <p:nvPr/>
        </p:nvSpPr>
        <p:spPr>
          <a:xfrm>
            <a:off x="2415616" y="2169765"/>
            <a:ext cx="43126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ts val="3150"/>
              </a:lnSpc>
            </a:pPr>
            <a:r>
              <a:rPr lang="en-US" sz="28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SCRATCH!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A2028A-CBC9-49B9-DEF3-03702C27E0EB}"/>
              </a:ext>
            </a:extLst>
          </p:cNvPr>
          <p:cNvSpPr/>
          <p:nvPr/>
        </p:nvSpPr>
        <p:spPr>
          <a:xfrm>
            <a:off x="4095750" y="2874615"/>
            <a:ext cx="9525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D3A80C-31CF-8AAE-4EEB-D6186C305AB5}"/>
              </a:ext>
            </a:extLst>
          </p:cNvPr>
          <p:cNvSpPr/>
          <p:nvPr/>
        </p:nvSpPr>
        <p:spPr>
          <a:xfrm>
            <a:off x="2995925" y="3255764"/>
            <a:ext cx="32870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350" dirty="0">
                <a:solidFill>
                  <a:srgbClr val="E8EAED"/>
                </a:solidFill>
                <a:latin typeface="Arial" pitchFamily="34" charset="0"/>
                <a:cs typeface="Arial" pitchFamily="34" charset="-120"/>
              </a:rPr>
              <a:t>Building a minimal container runtime in Go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700DCB-73BB-0AF9-55E6-F35FEBCDB550}"/>
              </a:ext>
            </a:extLst>
          </p:cNvPr>
          <p:cNvSpPr/>
          <p:nvPr/>
        </p:nvSpPr>
        <p:spPr>
          <a:xfrm>
            <a:off x="3718205" y="3838575"/>
            <a:ext cx="921246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B2E582D-CD00-8043-DE93-8AA6198FC2AC}"/>
              </a:ext>
            </a:extLst>
          </p:cNvPr>
          <p:cNvSpPr/>
          <p:nvPr/>
        </p:nvSpPr>
        <p:spPr>
          <a:xfrm>
            <a:off x="3874156" y="3924300"/>
            <a:ext cx="609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CA54866-542E-61FC-083E-E5ABD7991F5A}"/>
              </a:ext>
            </a:extLst>
          </p:cNvPr>
          <p:cNvSpPr/>
          <p:nvPr/>
        </p:nvSpPr>
        <p:spPr>
          <a:xfrm>
            <a:off x="4753751" y="3838575"/>
            <a:ext cx="685949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006BAC1-AF6F-FA17-D6ED-6AA092FC7395}"/>
              </a:ext>
            </a:extLst>
          </p:cNvPr>
          <p:cNvSpPr/>
          <p:nvPr/>
        </p:nvSpPr>
        <p:spPr>
          <a:xfrm>
            <a:off x="4912055" y="3924300"/>
            <a:ext cx="36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3591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5E170-D4EC-29B9-36C8-3156F70F9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D0E4D-6C61-A15D-8595-24FCE6EDFDBF}"/>
              </a:ext>
            </a:extLst>
          </p:cNvPr>
          <p:cNvSpPr/>
          <p:nvPr/>
        </p:nvSpPr>
        <p:spPr>
          <a:xfrm>
            <a:off x="3890814" y="973485"/>
            <a:ext cx="1362224" cy="339030"/>
          </a:xfrm>
          <a:prstGeom prst="roundRect">
            <a:avLst>
              <a:gd name="adj" fmla="val 5619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EA1EED-B341-5563-0684-3F0E9CB54A8E}"/>
              </a:ext>
            </a:extLst>
          </p:cNvPr>
          <p:cNvSpPr/>
          <p:nvPr/>
        </p:nvSpPr>
        <p:spPr>
          <a:xfrm>
            <a:off x="4110363" y="1049685"/>
            <a:ext cx="923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DEMO 2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0B366E7-D863-32C8-A11D-50349E9486EF}"/>
              </a:ext>
            </a:extLst>
          </p:cNvPr>
          <p:cNvSpPr/>
          <p:nvPr/>
        </p:nvSpPr>
        <p:spPr>
          <a:xfrm>
            <a:off x="2382217" y="1541115"/>
            <a:ext cx="46089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CONTAINER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D01003C-656E-2B39-81D4-7F8C63CAA6CB}"/>
              </a:ext>
            </a:extLst>
          </p:cNvPr>
          <p:cNvSpPr/>
          <p:nvPr/>
        </p:nvSpPr>
        <p:spPr>
          <a:xfrm>
            <a:off x="2415616" y="2169765"/>
            <a:ext cx="43126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ts val="3150"/>
              </a:lnSpc>
            </a:pPr>
            <a:r>
              <a:rPr lang="en-US" sz="28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SCRATCH!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CFB5896-358E-2AFA-FB89-01BE662A4430}"/>
              </a:ext>
            </a:extLst>
          </p:cNvPr>
          <p:cNvSpPr/>
          <p:nvPr/>
        </p:nvSpPr>
        <p:spPr>
          <a:xfrm>
            <a:off x="4095750" y="2874615"/>
            <a:ext cx="9525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F594D3-388F-7008-556A-D46F05E9BF53}"/>
              </a:ext>
            </a:extLst>
          </p:cNvPr>
          <p:cNvSpPr/>
          <p:nvPr/>
        </p:nvSpPr>
        <p:spPr>
          <a:xfrm>
            <a:off x="2995925" y="3255764"/>
            <a:ext cx="328705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350" dirty="0">
                <a:solidFill>
                  <a:srgbClr val="E8EAED"/>
                </a:solidFill>
                <a:latin typeface="Arial" pitchFamily="34" charset="0"/>
                <a:cs typeface="Arial" pitchFamily="34" charset="-120"/>
              </a:rPr>
              <a:t>Building a minimal container with </a:t>
            </a:r>
            <a:r>
              <a:rPr lang="en-US" sz="1350" dirty="0" err="1">
                <a:solidFill>
                  <a:srgbClr val="E8EAED"/>
                </a:solidFill>
                <a:latin typeface="Arial" pitchFamily="34" charset="0"/>
                <a:cs typeface="Arial" pitchFamily="34" charset="-120"/>
              </a:rPr>
              <a:t>runc</a:t>
            </a:r>
            <a:endParaRPr lang="en-US" sz="1350" dirty="0">
              <a:solidFill>
                <a:srgbClr val="E8EAED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55FC1F4-5635-D1CE-7189-447E78B40FC6}"/>
              </a:ext>
            </a:extLst>
          </p:cNvPr>
          <p:cNvSpPr/>
          <p:nvPr/>
        </p:nvSpPr>
        <p:spPr>
          <a:xfrm>
            <a:off x="3718205" y="3838575"/>
            <a:ext cx="921246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8FBCB39-F704-F8BB-C41C-6189FE139E23}"/>
              </a:ext>
            </a:extLst>
          </p:cNvPr>
          <p:cNvSpPr/>
          <p:nvPr/>
        </p:nvSpPr>
        <p:spPr>
          <a:xfrm>
            <a:off x="3874156" y="3924300"/>
            <a:ext cx="609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E8C7D4-0A2C-4D40-3807-FE6B387D022A}"/>
              </a:ext>
            </a:extLst>
          </p:cNvPr>
          <p:cNvSpPr/>
          <p:nvPr/>
        </p:nvSpPr>
        <p:spPr>
          <a:xfrm>
            <a:off x="4753751" y="3838575"/>
            <a:ext cx="685949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D72D8FD-A7A4-CDA4-D439-10F0DB7A3F68}"/>
              </a:ext>
            </a:extLst>
          </p:cNvPr>
          <p:cNvSpPr/>
          <p:nvPr/>
        </p:nvSpPr>
        <p:spPr>
          <a:xfrm>
            <a:off x="4912055" y="3924300"/>
            <a:ext cx="36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24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1229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CONTAINER RUNTIME LANDSCAPE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1123950"/>
            <a:ext cx="8382000" cy="45720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238250"/>
            <a:ext cx="83164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is NOT containers. Docker is ONE implementation.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6764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7907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20383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Docker's underlying runtime. CNCF graduated. What K8s uses.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38125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4955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CRI-O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" y="27432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Kubernetes. Implements K8s CRI. Minimal, focused.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0861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2004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300" y="34480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Low-level OCI runtime. What containerd/CRI-O use underneath.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9625" y="16764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7907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(runsc)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3925" y="20383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User-space kernel. Intercepts syscalls. Security over performance.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9625" y="238125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33925" y="24955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Kata Containers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3925" y="27432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VMs that look like containers. Own kernel per container.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9625" y="30861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32004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Podman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3925" y="34480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Daemonless. Docker CLI compatible. Rootless by default.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5300" y="4166794"/>
            <a:ext cx="5356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production systems use containerd or CRI-O, not Docker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6896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OPEN CONTAINER INITIATIVE (OCI)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552450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365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Why It Exists and Why You Should Care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538883"/>
            <a:ext cx="3931890" cy="917228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0050" y="1538883"/>
            <a:ext cx="0" cy="917228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2450" y="1653183"/>
            <a:ext cx="3699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PROBLEM OCI SOLVES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2450" y="1870323"/>
            <a:ext cx="369963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Before OCI, Docker was the de facto standard. This created vendor lock-in risks and fragmentation as alternatives emerged. The industry needed open standards for interoperability.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1000" y="2570411"/>
            <a:ext cx="3931890" cy="760065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0050" y="2570411"/>
            <a:ext cx="0" cy="760065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2450" y="2684711"/>
            <a:ext cx="369963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WHAT IS OCI?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2450" y="2901851"/>
            <a:ext cx="36996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Founded in 2015 by Docker, CoreOS, and others under the Linux Foundation. OCI creates open industry standards for container formats and runtimes.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1000" y="3444776"/>
            <a:ext cx="3931890" cy="1037927"/>
          </a:xfrm>
          <a:prstGeom prst="roundRect">
            <a:avLst>
              <a:gd name="adj" fmla="val 550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875" y="3568601"/>
            <a:ext cx="37190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THE THREE OCI SPECIFICATIONS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3875" y="3839914"/>
            <a:ext cx="76200" cy="76200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6275" y="3804791"/>
            <a:ext cx="7127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Runtime Spec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51223" y="3811339"/>
            <a:ext cx="9451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to run containers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3875" y="4043660"/>
            <a:ext cx="76200" cy="76200"/>
          </a:xfrm>
          <a:prstGeom prst="roundRect">
            <a:avLst>
              <a:gd name="adj" fmla="val 25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275" y="4008537"/>
            <a:ext cx="5940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FF6B35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Image Spec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334839" y="4015085"/>
            <a:ext cx="11719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to package containers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3875" y="4247406"/>
            <a:ext cx="76200" cy="76200"/>
          </a:xfrm>
          <a:prstGeom prst="roundRect">
            <a:avLst>
              <a:gd name="adj" fmla="val 25000"/>
            </a:avLst>
          </a:prstGeom>
          <a:solidFill>
            <a:srgbClr val="8892A6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6275" y="4212282"/>
            <a:ext cx="8847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Distribution Spec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19845" y="4218831"/>
            <a:ext cx="1063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How to distribute images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822007" y="1402110"/>
            <a:ext cx="16546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WHERE OCI SITS IN THE STACK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99621" y="1663005"/>
            <a:ext cx="2667000" cy="3429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06666" y="1767780"/>
            <a:ext cx="18899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Container Platforms (Docker, Podman, K8s)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99783" y="2063055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99621" y="2306836"/>
            <a:ext cx="2667000" cy="342900"/>
          </a:xfrm>
          <a:prstGeom prst="roundRect">
            <a:avLst>
              <a:gd name="adj" fmla="val 16667"/>
            </a:avLst>
          </a:prstGeom>
          <a:solidFill>
            <a:srgbClr val="141824"/>
          </a:solidFill>
          <a:ln w="9525">
            <a:solidFill>
              <a:srgbClr val="00D9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86140" y="2411611"/>
            <a:ext cx="17278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High-Level Runtime (containerd, CRI-O)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99783" y="270688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Image 0" descr="/tmp/rasterized-gradient-e155ae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121" y="2950666"/>
            <a:ext cx="3048000" cy="3810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37907" y="3067794"/>
            <a:ext cx="58201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15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OCI SPECS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322814" y="3045916"/>
            <a:ext cx="9525" cy="1905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446639" y="3081189"/>
            <a:ext cx="12053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Runtime + Image + Distribution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599783" y="3388816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299621" y="3632597"/>
            <a:ext cx="2667000" cy="342900"/>
          </a:xfrm>
          <a:prstGeom prst="roundRect">
            <a:avLst>
              <a:gd name="adj" fmla="val 16667"/>
            </a:avLst>
          </a:prstGeom>
          <a:solidFill>
            <a:srgbClr val="141824"/>
          </a:solidFill>
          <a:ln w="9525">
            <a:solidFill>
              <a:srgbClr val="00D9FF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808166" y="3737372"/>
            <a:ext cx="1682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Low-Level Runtime (runc, crun, gVisor)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599783" y="4032647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299621" y="4276427"/>
            <a:ext cx="2667000" cy="342900"/>
          </a:xfrm>
          <a:prstGeom prst="roundRect">
            <a:avLst>
              <a:gd name="adj" fmla="val 16667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857429" y="4381202"/>
            <a:ext cx="1582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Linux Kernel (namespaces, cgroups)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81000" y="4794945"/>
            <a:ext cx="26341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9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75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OCI ensures your containers work everywhere, regardless of tooling</a:t>
            </a:r>
            <a:endParaRPr kumimoji="0" lang="en-US" sz="6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8814"/>
            <a:ext cx="9144000" cy="552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17399" y="482600"/>
            <a:ext cx="8408193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DOCKER ARCHITECTURE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8D1BD77-E420-1097-82B6-2AC3EFCDD00F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36000"/>
            <a:ext cx="9144000" cy="420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ECCF3-A779-5F41-51EE-83E34122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Down Arrow 7">
            <a:extLst>
              <a:ext uri="{FF2B5EF4-FFF2-40B4-BE49-F238E27FC236}">
                <a16:creationId xmlns:a16="http://schemas.microsoft.com/office/drawing/2014/main" id="{C7ABB86D-CCAF-1237-FB33-373A0C007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5D1675C-C2C1-4C39-5F6B-962DAB11B892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065436" y="0"/>
            <a:ext cx="6078564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936D55B-C87C-095B-7431-8DABA9C3480D}"/>
              </a:ext>
            </a:extLst>
          </p:cNvPr>
          <p:cNvSpPr/>
          <p:nvPr/>
        </p:nvSpPr>
        <p:spPr>
          <a:xfrm>
            <a:off x="359830" y="1791984"/>
            <a:ext cx="2980801" cy="105310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Container Lifecycle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88E67-94CE-18C9-9DF3-B7550E6E8081}"/>
              </a:ext>
            </a:extLst>
          </p:cNvPr>
          <p:cNvSpPr txBox="1"/>
          <p:nvPr/>
        </p:nvSpPr>
        <p:spPr>
          <a:xfrm>
            <a:off x="1188000" y="2924402"/>
            <a:ext cx="925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1087794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99" y="285750"/>
            <a:ext cx="54697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 DOCKER COMMANDS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81088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3477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6250" y="14430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nginx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7668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18621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web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1859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2812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web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681288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29479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" y="30432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app:v1 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3670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" y="34623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nginx:latest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9625" y="1081088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9625" y="13477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14875" y="14430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web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9625" y="17668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14875" y="18621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web /bin/bash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9625" y="21859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14875" y="22812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web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9625" y="2681288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9625" y="29479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4875" y="30432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mynet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19625" y="3367088"/>
            <a:ext cx="4143375" cy="342900"/>
          </a:xfrm>
          <a:prstGeom prst="roundRect">
            <a:avLst>
              <a:gd name="adj" fmla="val 1777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14875" y="3462338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--network mynet app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3862387"/>
            <a:ext cx="8382000" cy="638175"/>
          </a:xfrm>
          <a:prstGeom prst="roundRect">
            <a:avLst>
              <a:gd name="adj" fmla="val 9552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5300" y="3976687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flags for docker run: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5300" y="4224338"/>
            <a:ext cx="83164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-d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detached • </a:t>
            </a: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-p 8080:80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 mapping • </a:t>
            </a: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 /host:/container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volume • </a:t>
            </a: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--memory 512m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memory limit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" y="4400550"/>
            <a:ext cx="38447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Grouped by function for real-world workflows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0814" y="973485"/>
            <a:ext cx="1362224" cy="339030"/>
          </a:xfrm>
          <a:prstGeom prst="roundRect">
            <a:avLst>
              <a:gd name="adj" fmla="val 5619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0363" y="1049685"/>
            <a:ext cx="923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DEMO 3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2382217" y="1541115"/>
            <a:ext cx="43795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31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LET'S DOCKERIZE</a:t>
            </a:r>
          </a:p>
        </p:txBody>
      </p:sp>
      <p:sp>
        <p:nvSpPr>
          <p:cNvPr id="5" name="Text 3"/>
          <p:cNvSpPr/>
          <p:nvPr/>
        </p:nvSpPr>
        <p:spPr>
          <a:xfrm>
            <a:off x="2415616" y="2169765"/>
            <a:ext cx="43126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150"/>
              </a:lnSpc>
            </a:pPr>
            <a:r>
              <a:rPr lang="en-US" sz="3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AN APPLICATION!</a:t>
            </a:r>
          </a:p>
        </p:txBody>
      </p:sp>
      <p:sp>
        <p:nvSpPr>
          <p:cNvPr id="6" name="Text 4"/>
          <p:cNvSpPr/>
          <p:nvPr/>
        </p:nvSpPr>
        <p:spPr>
          <a:xfrm>
            <a:off x="4095750" y="2874615"/>
            <a:ext cx="9525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04186" y="3255615"/>
            <a:ext cx="33354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Dockerize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and Containerize mini-note app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48326" y="3918421"/>
            <a:ext cx="765295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cs typeface="Arial" pitchFamily="34" charset="-120"/>
              </a:rPr>
              <a:t>Java</a:t>
            </a:r>
          </a:p>
        </p:txBody>
      </p:sp>
      <p:sp>
        <p:nvSpPr>
          <p:cNvPr id="9" name="Text 7"/>
          <p:cNvSpPr/>
          <p:nvPr/>
        </p:nvSpPr>
        <p:spPr>
          <a:xfrm>
            <a:off x="3692330" y="3974520"/>
            <a:ext cx="609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1925" y="3918421"/>
            <a:ext cx="685949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30229" y="4004146"/>
            <a:ext cx="36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DOCKER COMPOSE</a:t>
            </a:r>
          </a:p>
        </p:txBody>
      </p:sp>
      <p:sp>
        <p:nvSpPr>
          <p:cNvPr id="3" name="Text 1"/>
          <p:cNvSpPr/>
          <p:nvPr/>
        </p:nvSpPr>
        <p:spPr>
          <a:xfrm>
            <a:off x="381000" y="57150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and run multi-container applications</a:t>
            </a:r>
            <a:endParaRPr lang="en-US" sz="900" dirty="0"/>
          </a:p>
        </p:txBody>
      </p:sp>
      <p:pic>
        <p:nvPicPr>
          <p:cNvPr id="4" name="Image 0" descr="/tmp/rasterized-gradient-97a160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02284"/>
            <a:ext cx="3424386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3342" y="1674913"/>
            <a:ext cx="3259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YAML file to define services, networks, and volumes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81000" y="2021384"/>
            <a:ext cx="3424386" cy="1007418"/>
          </a:xfrm>
          <a:prstGeom prst="roundRect">
            <a:avLst>
              <a:gd name="adj" fmla="val 5673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04825" y="2126159"/>
            <a:ext cx="3240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4825" y="2329904"/>
            <a:ext cx="3240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1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Automatic service networking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4825" y="2487960"/>
            <a:ext cx="3240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1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Volume and secret management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4825" y="2646015"/>
            <a:ext cx="3240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1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Environment variable support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4825" y="2804071"/>
            <a:ext cx="324027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1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Service dependency ordering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1000" y="3124051"/>
            <a:ext cx="3424386" cy="590401"/>
          </a:xfrm>
          <a:prstGeom prst="roundRect">
            <a:avLst>
              <a:gd name="adj" fmla="val 968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5300" y="3219301"/>
            <a:ext cx="32597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1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5300" y="3423047"/>
            <a:ext cx="255389" cy="196155"/>
          </a:xfrm>
          <a:prstGeom prst="roundRect">
            <a:avLst>
              <a:gd name="adj" fmla="val 19423"/>
            </a:avLst>
          </a:prstGeom>
          <a:solidFill>
            <a:srgbClr val="0A0E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71500" y="3461147"/>
            <a:ext cx="148707" cy="13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07839" y="3423047"/>
            <a:ext cx="358229" cy="196155"/>
          </a:xfrm>
          <a:prstGeom prst="roundRect">
            <a:avLst>
              <a:gd name="adj" fmla="val 19423"/>
            </a:avLst>
          </a:prstGeom>
          <a:solidFill>
            <a:srgbClr val="0A0E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884038" y="3461147"/>
            <a:ext cx="2820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223218" y="3423047"/>
            <a:ext cx="358229" cy="196155"/>
          </a:xfrm>
          <a:prstGeom prst="roundRect">
            <a:avLst>
              <a:gd name="adj" fmla="val 19423"/>
            </a:avLst>
          </a:prstGeom>
          <a:solidFill>
            <a:srgbClr val="0A0E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299417" y="3461147"/>
            <a:ext cx="2820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745278" y="3423047"/>
            <a:ext cx="255389" cy="196155"/>
          </a:xfrm>
          <a:prstGeom prst="roundRect">
            <a:avLst>
              <a:gd name="adj" fmla="val 19423"/>
            </a:avLst>
          </a:prstGeom>
          <a:solidFill>
            <a:srgbClr val="0A0E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821478" y="3461147"/>
            <a:ext cx="25538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124492" y="3427334"/>
            <a:ext cx="409724" cy="196155"/>
          </a:xfrm>
          <a:prstGeom prst="roundRect">
            <a:avLst>
              <a:gd name="adj" fmla="val 19423"/>
            </a:avLst>
          </a:prstGeom>
          <a:solidFill>
            <a:srgbClr val="0A0E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229267" y="3466624"/>
            <a:ext cx="3335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81000" y="3809702"/>
            <a:ext cx="3424386" cy="272355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395288" y="3809702"/>
            <a:ext cx="0" cy="272355"/>
          </a:xfrm>
          <a:prstGeom prst="line">
            <a:avLst/>
          </a:prstGeom>
          <a:noFill/>
          <a:ln w="28575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04825" y="3885902"/>
            <a:ext cx="32694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10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for:</a:t>
            </a:r>
            <a:r>
              <a:rPr lang="en-US" sz="10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Local dev, CI/CD, single-host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33986" y="831652"/>
            <a:ext cx="48235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docker-compose.yml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033986" y="1041202"/>
            <a:ext cx="4729014" cy="3038475"/>
          </a:xfrm>
          <a:prstGeom prst="roundRect">
            <a:avLst>
              <a:gd name="adj" fmla="val 1881"/>
            </a:avLst>
          </a:prstGeom>
          <a:solidFill>
            <a:srgbClr val="0A0E17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157811" y="1145977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services: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157811" y="1422202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500" dirty="0" err="1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my_app</a:t>
            </a: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157811" y="1698427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build: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157811" y="1974652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ports:</a:t>
            </a: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["8080:8080"]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4157811" y="2250877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en-US" sz="1500" dirty="0" err="1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</a:t>
            </a: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[database]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4157811" y="2565202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500" dirty="0" err="1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database_name</a:t>
            </a: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4157811" y="2841427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image:</a:t>
            </a: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postgres:15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4157811" y="3117652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volumes:</a:t>
            </a: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[db_data:/var/lib/postgresql]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4157811" y="3431977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volumes: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4157811" y="3708202"/>
            <a:ext cx="45709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r>
              <a:rPr lang="en-US" sz="1500" dirty="0" err="1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db_data</a:t>
            </a:r>
            <a:r>
              <a:rPr lang="en-US" sz="15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4033986" y="4155877"/>
            <a:ext cx="4729014" cy="697111"/>
          </a:xfrm>
          <a:prstGeom prst="roundRect">
            <a:avLst>
              <a:gd name="adj" fmla="val 819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845844" y="4270177"/>
            <a:ext cx="666750" cy="34290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 w="19050">
            <a:solidFill>
              <a:srgbClr val="00D9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086499" y="4384476"/>
            <a:ext cx="2933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083820" y="4632127"/>
            <a:ext cx="19461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5703094" y="4384477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6065044" y="4270177"/>
            <a:ext cx="666750" cy="342900"/>
          </a:xfrm>
          <a:prstGeom prst="roundRect">
            <a:avLst>
              <a:gd name="adj" fmla="val 11111"/>
            </a:avLst>
          </a:prstGeom>
          <a:solidFill>
            <a:srgbClr val="1A1F2E"/>
          </a:solidFill>
          <a:ln w="19050">
            <a:solidFill>
              <a:srgbClr val="FF6B3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191845" y="4374952"/>
            <a:ext cx="4212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6252270" y="4632127"/>
            <a:ext cx="298144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922294" y="4384477"/>
            <a:ext cx="17487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7284244" y="4270177"/>
            <a:ext cx="666750" cy="342900"/>
          </a:xfrm>
          <a:prstGeom prst="roundRect">
            <a:avLst>
              <a:gd name="adj" fmla="val 11111"/>
            </a:avLst>
          </a:prstGeom>
          <a:solidFill>
            <a:srgbClr val="0A0E17"/>
          </a:solidFill>
          <a:ln w="19050">
            <a:solidFill>
              <a:srgbClr val="8892A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435007" y="4374952"/>
            <a:ext cx="3725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db_data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7494687" y="4632127"/>
            <a:ext cx="2506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</a:t>
            </a:r>
            <a:endParaRPr lang="en-US" sz="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4056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DIRECTIVES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0858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1811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6250" y="13716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image. Use specific versions, prefer alpine/distroless.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67640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17716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19621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commands during build. Combine with &amp;&amp; to reduce layers.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2669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3622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vs ADD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" y="25527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COPY: just copy (preferred). ADD: auto-extract tar + fetch URLs.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85750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29527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" y="31432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working directory. Don't use RUN cd /app.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4480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5433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vs ARG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" y="37338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runtime + build. ARG: build-time only.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9625" y="10858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14875" y="11811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vs CMD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14875" y="13716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ENTRYPOINT: main executable. CMD: default args (easy override).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9625" y="167640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14875" y="17716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4875" y="19621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user. Critical for security. Never run as root.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9625" y="22669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14875" y="23622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4875" y="25527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port. Doesn't actually publish.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9625" y="285750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14875" y="29527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14875" y="31432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point. Documents stateful data location.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9625" y="3448050"/>
            <a:ext cx="4143375" cy="533400"/>
          </a:xfrm>
          <a:prstGeom prst="roundRect">
            <a:avLst>
              <a:gd name="adj" fmla="val 1142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14875" y="35433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14875" y="37338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health verification command.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1000" y="4114800"/>
            <a:ext cx="8382000" cy="3810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6250" y="4210050"/>
            <a:ext cx="8355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tip: Use DOCKER_BUILDKIT=1 for better caching and parallelization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1000" y="4514850"/>
            <a:ext cx="51405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instruction creates a layer—minimize and order wisely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4216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ANTI-PATTERNS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381125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514475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that bloat images and reduce security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2143125"/>
            <a:ext cx="4133850" cy="1371600"/>
          </a:xfrm>
          <a:prstGeom prst="roundRect">
            <a:avLst>
              <a:gd name="adj" fmla="val 4444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22574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ubuntu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5300" y="24860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update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5300" y="26384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install -y python3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5300" y="27908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apt-get install -y pip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5300" y="29432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/app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5300" y="30956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5300" y="3248025"/>
            <a:ext cx="39833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python3 /app/main.py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29150" y="1990725"/>
            <a:ext cx="42165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29150" y="225742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Large base image (ubuntu)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150" y="246697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RUN layers (wastes space)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9150" y="267652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layer caching optimization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29150" y="288607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as root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9150" y="309562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.dockerignore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330517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deps in final image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9150" y="351472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version pinning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3781425"/>
            <a:ext cx="8382000" cy="419100"/>
          </a:xfrm>
          <a:prstGeom prst="round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5300" y="3895725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500MB+ image with security vulnerabilities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1000" y="4400550"/>
            <a:ext cx="37638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ship your build toolchain to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60041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BEST PRACTICES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47775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381125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build: Separate build from runtime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85737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085975"/>
            <a:ext cx="4133850" cy="1104900"/>
          </a:xfrm>
          <a:prstGeom prst="roundRect">
            <a:avLst>
              <a:gd name="adj" fmla="val 551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1812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golang:1.21-alpine AS builder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23336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/build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250" y="24860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go.mod go.sum ./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250" y="26384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go mod download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" y="27908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6250" y="29432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CGO_ENABLED=0 go build -o app 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3305175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STAGE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3533775"/>
            <a:ext cx="4133850" cy="800100"/>
          </a:xfrm>
          <a:prstGeom prst="roundRect">
            <a:avLst>
              <a:gd name="adj" fmla="val 761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6250" y="36290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scratch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6250" y="37814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/build/app /app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" y="39338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65534:65534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250" y="4086225"/>
            <a:ext cx="40222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 ["/app"]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29150" y="1905000"/>
            <a:ext cx="42165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29150" y="217170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Final image &lt; 10MB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150" y="23812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build tools in prod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9150" y="259080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 caching optimized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29150" y="28003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Non-root user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9150" y="300990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Static binary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29150" y="32194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Minimal attack surface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29150" y="35242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TECHNIQUES: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29150" y="37528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deps before source (caching)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29150" y="39433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or distroless base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9150" y="4133850"/>
            <a:ext cx="42165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specify USER directive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1000" y="4400550"/>
            <a:ext cx="52609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only what you need to run, not what you needed to build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200150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333500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containers communicate with each other and the outside world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7907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5300" y="19050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(default)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" y="21526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internal network. NAT to host for external access.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49555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6098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300" y="28575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uses host network stack directly. No isolation.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2004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3147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300" y="35623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Multi-host networking for Swarm. VXLAN encapsulation.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9625" y="17907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3925" y="19050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macvlan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33925" y="21526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gets MAC address. Appears as physical device.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9625" y="249555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33925" y="260985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33925" y="28575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networking. Complete isolation. Loopback only.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9625" y="3200400"/>
            <a:ext cx="4143375" cy="628650"/>
          </a:xfrm>
          <a:prstGeom prst="roundRect">
            <a:avLst>
              <a:gd name="adj" fmla="val 96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3314700"/>
            <a:ext cx="39930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33925" y="35623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bridge. Built-in DNS. Network isolation.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000" y="3962400"/>
            <a:ext cx="8382000" cy="419100"/>
          </a:xfrm>
          <a:prstGeom prst="roundRect">
            <a:avLst>
              <a:gd name="adj" fmla="val 14545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5300" y="4076700"/>
            <a:ext cx="8316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drivers are pluggable - can write your own (CNI plugins)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1000" y="4400550"/>
            <a:ext cx="52234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driver trades off isolation vs performance vs complexity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20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NETWORK INTERNALS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47763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281113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Docker networking - veth pairs + Linux bridge + iptables NAT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738313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5676" y="1776413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738313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creates virtual bridge (docker0)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" y="1966912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like network switch. Default: 172.17.0.0/16 subnet.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195513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5676" y="2233613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0100" y="2195513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veth pair for each container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" y="2424113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vethXXX (host side) ↔ eth0 (container side). Virtual ethernet cable.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2652713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676" y="2690813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2652713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vethXXX to docker0 bridge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0100" y="2881313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forwards packets between containers on same network.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1000" y="3109913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5676" y="3148013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0100" y="3109913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eth0 into container netns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0100" y="3338513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only sees eth0 with private IP (172.17.0.2, .3, etc.)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1000" y="3567113"/>
            <a:ext cx="304800" cy="266700"/>
          </a:xfrm>
          <a:prstGeom prst="roundRect">
            <a:avLst>
              <a:gd name="adj" fmla="val 22857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5676" y="3605213"/>
            <a:ext cx="1554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0100" y="3567113"/>
            <a:ext cx="8122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NAT for external traffic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0100" y="3795713"/>
            <a:ext cx="8122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MASQUERADE rule: container IPs → host IP for internet access.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4081463"/>
            <a:ext cx="8382000" cy="352425"/>
          </a:xfrm>
          <a:prstGeom prst="roundRect">
            <a:avLst>
              <a:gd name="adj" fmla="val 1729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4176712"/>
            <a:ext cx="83553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link show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brctl show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</a:t>
            </a:r>
            <a:r>
              <a:rPr lang="en-US" sz="9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-t nat -L</a:t>
            </a: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inspect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715420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FLOW: CONTAINER TO INTERNET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1100138"/>
            <a:ext cx="1143000" cy="457200"/>
          </a:xfrm>
          <a:prstGeom prst="roundRect">
            <a:avLst>
              <a:gd name="adj" fmla="val 13333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176338"/>
            <a:ext cx="932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95300" y="1328738"/>
            <a:ext cx="932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A0E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172.17.0.2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19250" y="1319213"/>
            <a:ext cx="285750" cy="1905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000250" y="1176338"/>
            <a:ext cx="762000" cy="304800"/>
          </a:xfrm>
          <a:prstGeom prst="roundRect">
            <a:avLst>
              <a:gd name="adj" fmla="val 2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14550" y="1252538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7250" y="1633538"/>
            <a:ext cx="19050" cy="1524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2500" y="1938337"/>
            <a:ext cx="762000" cy="304800"/>
          </a:xfrm>
          <a:prstGeom prst="roundRect">
            <a:avLst>
              <a:gd name="adj" fmla="val 2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6800" y="2014538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vethXXX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09750" y="2081212"/>
            <a:ext cx="285750" cy="1905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90750" y="1862138"/>
            <a:ext cx="1143000" cy="457200"/>
          </a:xfrm>
          <a:prstGeom prst="roundRect">
            <a:avLst>
              <a:gd name="adj" fmla="val 13333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05050" y="1938337"/>
            <a:ext cx="932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05050" y="2090738"/>
            <a:ext cx="9326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172.17.0.1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76500" y="2395538"/>
            <a:ext cx="19050" cy="1524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571750" y="2624138"/>
            <a:ext cx="1333500" cy="304800"/>
          </a:xfrm>
          <a:prstGeom prst="roundRect">
            <a:avLst>
              <a:gd name="adj" fmla="val 2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86050" y="2700338"/>
            <a:ext cx="11269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NAT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48000" y="3005138"/>
            <a:ext cx="19050" cy="1524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71750" y="3233738"/>
            <a:ext cx="762000" cy="304800"/>
          </a:xfrm>
          <a:prstGeom prst="roundRect">
            <a:avLst>
              <a:gd name="adj" fmla="val 20000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686050" y="3309938"/>
            <a:ext cx="5440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3376613"/>
            <a:ext cx="285750" cy="1905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810000" y="3233738"/>
            <a:ext cx="952500" cy="304800"/>
          </a:xfrm>
          <a:prstGeom prst="roundRect">
            <a:avLst>
              <a:gd name="adj" fmla="val 20000"/>
            </a:avLst>
          </a:prstGeom>
          <a:solidFill>
            <a:srgbClr val="00D9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24300" y="3309938"/>
            <a:ext cx="7383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3671888"/>
            <a:ext cx="8382000" cy="523875"/>
          </a:xfrm>
          <a:prstGeom prst="roundRect">
            <a:avLst>
              <a:gd name="adj" fmla="val 11636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3767138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NAT: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250" y="3948112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172.17.0.2:8080 → 10.0.2.15:12345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62191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PUBLISHING (-p / -P)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819150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952500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Forwarding traffic from host port to container 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409700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676400"/>
            <a:ext cx="4143375" cy="514350"/>
          </a:xfrm>
          <a:prstGeom prst="roundRect">
            <a:avLst>
              <a:gd name="adj" fmla="val 11852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17716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250" y="19431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8080 → Container 80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266950"/>
            <a:ext cx="4143375" cy="514350"/>
          </a:xfrm>
          <a:prstGeom prst="roundRect">
            <a:avLst>
              <a:gd name="adj" fmla="val 11852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3622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127.0.0.1:8080:80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250" y="25336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localhost can access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2857500"/>
            <a:ext cx="4143375" cy="514350"/>
          </a:xfrm>
          <a:prstGeom prst="roundRect">
            <a:avLst>
              <a:gd name="adj" fmla="val 11852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" y="29527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" y="31242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host port → 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1000" y="3448050"/>
            <a:ext cx="4143375" cy="514350"/>
          </a:xfrm>
          <a:prstGeom prst="roundRect">
            <a:avLst>
              <a:gd name="adj" fmla="val 11852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0" y="35433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6250" y="37147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all EXPOSE'd ports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9625" y="1657350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IPTABLES RULES: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9625" y="1924050"/>
            <a:ext cx="4143375" cy="704850"/>
          </a:xfrm>
          <a:prstGeom prst="roundRect">
            <a:avLst>
              <a:gd name="adj" fmla="val 8649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14875" y="20193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chain in nat table: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4875" y="22288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DNAT tcp --dport 8080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14875" y="23812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172.17.0.2:80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9625" y="2705100"/>
            <a:ext cx="4143375" cy="1009650"/>
          </a:xfrm>
          <a:prstGeom prst="roundRect">
            <a:avLst>
              <a:gd name="adj" fmla="val 6038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14875" y="280035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flow: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4875" y="30099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Packet arrives at host:8080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4875" y="31623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DNAT changes dest IP:port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4875" y="33147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Routes to 172.17.0.2:80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4875" y="3467100"/>
            <a:ext cx="40319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Bridge forwards to container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1000" y="4095750"/>
            <a:ext cx="8382000" cy="3810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250" y="4191000"/>
            <a:ext cx="83553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automatically manages iptables rules - don't edit manually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98706" y="4572000"/>
            <a:ext cx="41794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889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rules: iptables -t nat -L -n | grep DOCKER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85750"/>
            <a:ext cx="51535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&amp; SERVICE DISCOVERY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1000" y="990600"/>
            <a:ext cx="8382000" cy="495300"/>
          </a:xfrm>
          <a:prstGeom prst="roundRect">
            <a:avLst>
              <a:gd name="adj" fmla="val 12308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123950"/>
            <a:ext cx="82776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find each other by name, not 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581150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BRIDGE: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847850"/>
            <a:ext cx="4143375" cy="742950"/>
          </a:xfrm>
          <a:prstGeom prst="roundRect">
            <a:avLst>
              <a:gd name="adj" fmla="val 8205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9621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DNS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5300" y="21717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use --link (deprecated)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5300" y="23241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hardcode IPs (bad)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2743200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600"/>
              </a:spcBef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USER-DEFINED BRIDGE: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009900"/>
            <a:ext cx="4143375" cy="742950"/>
          </a:xfrm>
          <a:prstGeom prst="roundRect">
            <a:avLst>
              <a:gd name="adj" fmla="val 8205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12420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DNS server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300" y="33337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name = hostname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5300" y="3486150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aliases supported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9625" y="1666875"/>
            <a:ext cx="42262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9625" y="1933575"/>
            <a:ext cx="4143375" cy="781050"/>
          </a:xfrm>
          <a:prstGeom prst="roundRect">
            <a:avLst>
              <a:gd name="adj" fmla="val 7805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33925" y="204787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/etc/resolv.conf in container: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3925" y="22574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nameserver 127.0.0.11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33925" y="24479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embedded DNS resolver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9625" y="2790825"/>
            <a:ext cx="4143375" cy="876300"/>
          </a:xfrm>
          <a:prstGeom prst="roundRect">
            <a:avLst>
              <a:gd name="adj" fmla="val 6957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3925" y="29051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order: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3925" y="30956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Check container name on network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33925" y="32480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network aliases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3925" y="3400425"/>
            <a:ext cx="39930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Forward to external DNS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1000" y="3886200"/>
            <a:ext cx="8382000" cy="514350"/>
          </a:xfrm>
          <a:prstGeom prst="roundRect">
            <a:avLst>
              <a:gd name="adj" fmla="val 11852"/>
            </a:avLst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250" y="398145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--network mynet --name api backend:v1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250" y="4152900"/>
            <a:ext cx="83553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containers: curl http://api:8080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25657A-B6E9-3DCA-2E93-2807CEB9D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721BE6-117D-0359-72A3-5A36A5698151}"/>
              </a:ext>
            </a:extLst>
          </p:cNvPr>
          <p:cNvSpPr/>
          <p:nvPr/>
        </p:nvSpPr>
        <p:spPr>
          <a:xfrm>
            <a:off x="3890814" y="973485"/>
            <a:ext cx="1362224" cy="339030"/>
          </a:xfrm>
          <a:prstGeom prst="roundRect">
            <a:avLst>
              <a:gd name="adj" fmla="val 56190"/>
            </a:avLst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4C9A78-FA4D-CDCE-C84A-AFF219FFAA2F}"/>
              </a:ext>
            </a:extLst>
          </p:cNvPr>
          <p:cNvSpPr/>
          <p:nvPr/>
        </p:nvSpPr>
        <p:spPr>
          <a:xfrm>
            <a:off x="4110363" y="1049685"/>
            <a:ext cx="92312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DEMO 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670A59-E94F-924A-509A-2E2A2B2D7882}"/>
              </a:ext>
            </a:extLst>
          </p:cNvPr>
          <p:cNvSpPr/>
          <p:nvPr/>
        </p:nvSpPr>
        <p:spPr>
          <a:xfrm>
            <a:off x="2382217" y="1541115"/>
            <a:ext cx="46089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en-US" sz="32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INSPECTION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2D042B-9FC2-7450-0C33-F8768D2B69C2}"/>
              </a:ext>
            </a:extLst>
          </p:cNvPr>
          <p:cNvSpPr/>
          <p:nvPr/>
        </p:nvSpPr>
        <p:spPr>
          <a:xfrm>
            <a:off x="2415616" y="2169765"/>
            <a:ext cx="43126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ts val="3150"/>
              </a:lnSpc>
            </a:pPr>
            <a:r>
              <a:rPr lang="en-US" sz="28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Docker</a:t>
            </a:r>
            <a:endParaRPr kumimoji="0" lang="en-US" sz="3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6A82CF7-134E-D587-419A-7597F0A19C57}"/>
              </a:ext>
            </a:extLst>
          </p:cNvPr>
          <p:cNvSpPr/>
          <p:nvPr/>
        </p:nvSpPr>
        <p:spPr>
          <a:xfrm>
            <a:off x="4095750" y="2874615"/>
            <a:ext cx="9525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844921-1471-092F-753A-E21DEE116856}"/>
              </a:ext>
            </a:extLst>
          </p:cNvPr>
          <p:cNvSpPr/>
          <p:nvPr/>
        </p:nvSpPr>
        <p:spPr>
          <a:xfrm>
            <a:off x="2995924" y="3255764"/>
            <a:ext cx="379367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en-US" sz="1350" dirty="0">
                <a:solidFill>
                  <a:srgbClr val="E8EAED"/>
                </a:solidFill>
                <a:latin typeface="Arial" pitchFamily="34" charset="0"/>
                <a:cs typeface="Arial" pitchFamily="34" charset="-120"/>
              </a:rPr>
              <a:t>Examine Docker networking primitives in action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33080BF-8E55-629E-A266-52BBF558BCE8}"/>
              </a:ext>
            </a:extLst>
          </p:cNvPr>
          <p:cNvSpPr/>
          <p:nvPr/>
        </p:nvSpPr>
        <p:spPr>
          <a:xfrm>
            <a:off x="3718205" y="3838575"/>
            <a:ext cx="921246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EEBF07-C922-E53B-DADC-9529F59AAF7C}"/>
              </a:ext>
            </a:extLst>
          </p:cNvPr>
          <p:cNvSpPr/>
          <p:nvPr/>
        </p:nvSpPr>
        <p:spPr>
          <a:xfrm>
            <a:off x="3874156" y="3924300"/>
            <a:ext cx="609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Linux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86CD31-5D9C-99FA-E884-7F205B1172C2}"/>
              </a:ext>
            </a:extLst>
          </p:cNvPr>
          <p:cNvSpPr/>
          <p:nvPr/>
        </p:nvSpPr>
        <p:spPr>
          <a:xfrm>
            <a:off x="4753751" y="3838575"/>
            <a:ext cx="685949" cy="331440"/>
          </a:xfrm>
          <a:prstGeom prst="roundRect">
            <a:avLst>
              <a:gd name="adj" fmla="val 57476"/>
            </a:avLst>
          </a:prstGeom>
          <a:solidFill>
            <a:srgbClr val="1A1F2E"/>
          </a:solidFill>
          <a:ln w="9525">
            <a:solidFill>
              <a:srgbClr val="2A3142"/>
            </a:solidFill>
          </a:ln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90B610-C751-0FF6-1019-DF37C3F68062}"/>
              </a:ext>
            </a:extLst>
          </p:cNvPr>
          <p:cNvSpPr/>
          <p:nvPr/>
        </p:nvSpPr>
        <p:spPr>
          <a:xfrm>
            <a:off x="4912055" y="3924300"/>
            <a:ext cx="369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bash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58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1A70C3-8C4F-4473-C6C0-9A9CC7114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5B08AD-A326-8194-009C-508312BEDFE2}"/>
              </a:ext>
            </a:extLst>
          </p:cNvPr>
          <p:cNvSpPr/>
          <p:nvPr/>
        </p:nvSpPr>
        <p:spPr>
          <a:xfrm>
            <a:off x="381000" y="228600"/>
            <a:ext cx="5236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  <a:defRPr/>
            </a:pPr>
            <a:r>
              <a:rPr lang="en-US" sz="2700" b="1" dirty="0">
                <a:solidFill>
                  <a:srgbClr val="00D9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Insight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48D2A8-1DF4-512C-4334-5C1055693D68}"/>
              </a:ext>
            </a:extLst>
          </p:cNvPr>
          <p:cNvSpPr/>
          <p:nvPr/>
        </p:nvSpPr>
        <p:spPr>
          <a:xfrm>
            <a:off x="381000" y="1449282"/>
            <a:ext cx="4430602" cy="338629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>
              <a:defRPr/>
            </a:pPr>
            <a:r>
              <a:rPr lang="en-US" b="1" dirty="0">
                <a:solidFill>
                  <a:srgbClr val="FF6B35"/>
                </a:solidFill>
                <a:latin typeface="Arial" pitchFamily="34" charset="0"/>
                <a:cs typeface="Arial" pitchFamily="34" charset="-120"/>
              </a:rPr>
              <a:t>Containers aren't new.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AC400E-C606-3639-3B08-A09F89C1F1B7}"/>
              </a:ext>
            </a:extLst>
          </p:cNvPr>
          <p:cNvSpPr/>
          <p:nvPr/>
        </p:nvSpPr>
        <p:spPr>
          <a:xfrm>
            <a:off x="400050" y="1449282"/>
            <a:ext cx="0" cy="3314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BEEE6E-20B2-7FAA-6EA2-BB95113270DF}"/>
              </a:ext>
            </a:extLst>
          </p:cNvPr>
          <p:cNvSpPr/>
          <p:nvPr/>
        </p:nvSpPr>
        <p:spPr>
          <a:xfrm>
            <a:off x="1650203" y="2065241"/>
            <a:ext cx="3967452" cy="343495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b="1" dirty="0">
                <a:solidFill>
                  <a:srgbClr val="00D9FF"/>
                </a:solidFill>
                <a:latin typeface="Arial" pitchFamily="34" charset="0"/>
                <a:cs typeface="Arial" pitchFamily="34" charset="-120"/>
              </a:rPr>
              <a:t>Docker made them accessible.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C6AAC37-CE2F-9DF4-884F-735CCD8818AB}"/>
              </a:ext>
            </a:extLst>
          </p:cNvPr>
          <p:cNvSpPr/>
          <p:nvPr/>
        </p:nvSpPr>
        <p:spPr>
          <a:xfrm>
            <a:off x="1650204" y="2065242"/>
            <a:ext cx="0" cy="33144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2">
            <a:extLst>
              <a:ext uri="{FF2B5EF4-FFF2-40B4-BE49-F238E27FC236}">
                <a16:creationId xmlns:a16="http://schemas.microsoft.com/office/drawing/2014/main" id="{8861BD6F-F851-B06B-9826-6F9AEE154545}"/>
              </a:ext>
            </a:extLst>
          </p:cNvPr>
          <p:cNvSpPr/>
          <p:nvPr/>
        </p:nvSpPr>
        <p:spPr>
          <a:xfrm>
            <a:off x="2811237" y="2686066"/>
            <a:ext cx="4394128" cy="338629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>
              <a:defRPr/>
            </a:pPr>
            <a:r>
              <a:rPr lang="en-US" b="1" dirty="0">
                <a:solidFill>
                  <a:srgbClr val="FF6B35"/>
                </a:solidFill>
                <a:latin typeface="Arial" pitchFamily="34" charset="0"/>
                <a:cs typeface="Arial" pitchFamily="34" charset="-120"/>
              </a:rPr>
              <a:t>Kubernetes made them scalable.</a:t>
            </a:r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6B904614-B188-0E65-C239-3248D7B5DB91}"/>
              </a:ext>
            </a:extLst>
          </p:cNvPr>
          <p:cNvSpPr/>
          <p:nvPr/>
        </p:nvSpPr>
        <p:spPr>
          <a:xfrm>
            <a:off x="4418879" y="3302025"/>
            <a:ext cx="3404243" cy="314325"/>
          </a:xfrm>
          <a:prstGeom prst="rect">
            <a:avLst/>
          </a:prstGeom>
          <a:solidFill>
            <a:srgbClr val="141824"/>
          </a:solidFill>
          <a:ln/>
        </p:spPr>
        <p:txBody>
          <a:bodyPr wrap="square" rtlCol="0" anchor="ctr"/>
          <a:lstStyle/>
          <a:p>
            <a:pPr lvl="0">
              <a:defRPr/>
            </a:pPr>
            <a:r>
              <a:rPr lang="en-US" b="1" dirty="0">
                <a:solidFill>
                  <a:srgbClr val="00D9FF"/>
                </a:solidFill>
                <a:latin typeface="Arial" pitchFamily="34" charset="0"/>
                <a:cs typeface="Arial" pitchFamily="34" charset="-120"/>
              </a:rPr>
              <a:t>OCI made them portable.</a:t>
            </a:r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4A00348E-0D4E-8DEE-B00B-AF59C8879BA8}"/>
              </a:ext>
            </a:extLst>
          </p:cNvPr>
          <p:cNvSpPr/>
          <p:nvPr/>
        </p:nvSpPr>
        <p:spPr>
          <a:xfrm>
            <a:off x="2811238" y="2693255"/>
            <a:ext cx="0" cy="33144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9F6827C1-24C6-45F3-2AF5-4D26A6D02BA7}"/>
              </a:ext>
            </a:extLst>
          </p:cNvPr>
          <p:cNvSpPr/>
          <p:nvPr/>
        </p:nvSpPr>
        <p:spPr>
          <a:xfrm>
            <a:off x="4450382" y="3296157"/>
            <a:ext cx="0" cy="33144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33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B987F-75DA-4A2D-E99F-9E12AD36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01B96E-96CD-C7F0-472C-1D1DA1B22FD0}"/>
              </a:ext>
            </a:extLst>
          </p:cNvPr>
          <p:cNvSpPr/>
          <p:nvPr/>
        </p:nvSpPr>
        <p:spPr>
          <a:xfrm>
            <a:off x="138613" y="253425"/>
            <a:ext cx="33038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600"/>
              </a:lnSpc>
            </a:pPr>
            <a:r>
              <a:rPr lang="en-US" sz="3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RESOURCES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AE29CA-0AA2-0FAF-B6AA-E90D97AAF310}"/>
              </a:ext>
            </a:extLst>
          </p:cNvPr>
          <p:cNvSpPr/>
          <p:nvPr/>
        </p:nvSpPr>
        <p:spPr>
          <a:xfrm>
            <a:off x="434191" y="786825"/>
            <a:ext cx="11430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8C48FCE-2DED-F4DB-C14E-331824B80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67852"/>
              </p:ext>
            </p:extLst>
          </p:nvPr>
        </p:nvGraphicFramePr>
        <p:xfrm>
          <a:off x="548640" y="1013459"/>
          <a:ext cx="8252460" cy="3876615"/>
        </p:xfrm>
        <a:graphic>
          <a:graphicData uri="http://schemas.openxmlformats.org/drawingml/2006/table">
            <a:tbl>
              <a:tblPr>
                <a:tableStyleId>{7E9639D4-E3E2-4D34-9284-5A2195B3D0D7}</a:tableStyleId>
              </a:tblPr>
              <a:tblGrid>
                <a:gridCol w="8252460">
                  <a:extLst>
                    <a:ext uri="{9D8B030D-6E8A-4147-A177-3AD203B41FA5}">
                      <a16:colId xmlns:a16="http://schemas.microsoft.com/office/drawing/2014/main" val="3148609967"/>
                    </a:ext>
                  </a:extLst>
                </a:gridCol>
              </a:tblGrid>
              <a:tr h="3876615"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itchFamily="2" charset="2"/>
                        <a:buChar char="Ø"/>
                      </a:pPr>
                      <a:r>
                        <a:rPr lang="en-US" dirty="0">
                          <a:solidFill>
                            <a:srgbClr val="00B0F0"/>
                          </a:solidFill>
                          <a:hlinkClick r:id="rId3"/>
                        </a:rPr>
                        <a:t>https://labs.iximiuz.com/skill-paths?category=containers</a:t>
                      </a:r>
                      <a:endParaRPr lang="en-US" dirty="0">
                        <a:solidFill>
                          <a:srgbClr val="00B0F0"/>
                        </a:solidFill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Docker networking: </a:t>
                      </a: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https://docs.docker.com/network/</a:t>
                      </a: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  <a:hlinkClick r:id="rId5"/>
                        </a:rPr>
                        <a:t>https://learn.kodekloud.com/user/courses/docker-training-course-for-the-absolute-beginner</a:t>
                      </a:r>
                      <a:endParaRPr lang="en-US" i="0" dirty="0">
                        <a:solidFill>
                          <a:srgbClr val="00B0F0"/>
                        </a:solidFill>
                        <a:effectLst/>
                        <a:latin typeface="TT Common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https://</a:t>
                      </a:r>
                      <a:r>
                        <a:rPr lang="en-US" i="0" dirty="0" err="1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learn.kodekloud.com</a:t>
                      </a: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/user/courses/docker-certified-associate-exam-course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  <a:hlinkClick r:id="rId6"/>
                        </a:rPr>
                        <a:t>https://www.udemy.com/course/complete-docker-kubernetes</a:t>
                      </a:r>
                      <a:endParaRPr lang="en-US" i="0" dirty="0">
                        <a:solidFill>
                          <a:srgbClr val="00B0F0"/>
                        </a:solidFill>
                        <a:effectLst/>
                        <a:latin typeface="TT Common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https://</a:t>
                      </a:r>
                      <a:r>
                        <a:rPr lang="en-US" i="0" dirty="0" err="1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github.com</a:t>
                      </a: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/</a:t>
                      </a:r>
                      <a:r>
                        <a:rPr lang="en-US" i="0" dirty="0" err="1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nicolaka</a:t>
                      </a:r>
                      <a:r>
                        <a:rPr lang="en-US" i="0" dirty="0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/</a:t>
                      </a:r>
                      <a:r>
                        <a:rPr lang="en-US" i="0" dirty="0" err="1">
                          <a:solidFill>
                            <a:srgbClr val="00B0F0"/>
                          </a:solidFill>
                          <a:effectLst/>
                          <a:latin typeface="TT Commons"/>
                        </a:rPr>
                        <a:t>netshoot</a:t>
                      </a:r>
                      <a:endParaRPr lang="en-US" i="0" dirty="0">
                        <a:solidFill>
                          <a:srgbClr val="00B0F0"/>
                        </a:solidFill>
                        <a:effectLst/>
                        <a:latin typeface="TT Common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https://</a:t>
                      </a:r>
                      <a:r>
                        <a:rPr lang="en-US" sz="1800" dirty="0" err="1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github.com</a:t>
                      </a:r>
                      <a:r>
                        <a:rPr lang="en-US" sz="1800" dirty="0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en-US" sz="1800" dirty="0" err="1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helayoty</a:t>
                      </a:r>
                      <a:r>
                        <a:rPr lang="en-US" sz="1800" dirty="0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/cloud-native-in-</a:t>
                      </a:r>
                      <a:r>
                        <a:rPr lang="en-US" sz="1800" dirty="0" err="1">
                          <a:solidFill>
                            <a:srgbClr val="00D9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arabic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331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122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4897" y="2038350"/>
            <a:ext cx="379420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00D9FF"/>
                </a:solidFill>
                <a:latin typeface="Courier New" pitchFamily="34" charset="0"/>
                <a:cs typeface="Courier New" pitchFamily="34" charset="-120"/>
              </a:rPr>
              <a:t>THANK YOU!</a:t>
            </a:r>
          </a:p>
        </p:txBody>
      </p:sp>
      <p:sp>
        <p:nvSpPr>
          <p:cNvPr id="3" name="Text 1"/>
          <p:cNvSpPr/>
          <p:nvPr/>
        </p:nvSpPr>
        <p:spPr>
          <a:xfrm>
            <a:off x="4000500" y="2800350"/>
            <a:ext cx="1143000" cy="38100"/>
          </a:xfrm>
          <a:prstGeom prst="rect">
            <a:avLst/>
          </a:prstGeom>
          <a:solidFill>
            <a:srgbClr val="FF6B35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7939" y="470535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A1F2E"/>
          </a:solidFill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538" y="4764435"/>
            <a:ext cx="1096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D9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𝕏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0718" y="4764435"/>
            <a:ext cx="64471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4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AED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@helayoty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7180" y="4697760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892A6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Questions? Let's discuss!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F63477B-43FC-AA4B-AE5E-42AEC24E51C5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C96BF84-B7AB-614E-B01F-93EC0159AFC0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2118</Words>
  <Application>Microsoft Macintosh PowerPoint</Application>
  <PresentationFormat>On-screen Show (16:9)</PresentationFormat>
  <Paragraphs>468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Arial</vt:lpstr>
      <vt:lpstr>Calibri</vt:lpstr>
      <vt:lpstr>Courier New</vt:lpstr>
      <vt:lpstr>TT Commons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Heba El Ayoty</cp:lastModifiedBy>
  <cp:revision>15</cp:revision>
  <dcterms:created xsi:type="dcterms:W3CDTF">2025-12-31T17:39:36Z</dcterms:created>
  <dcterms:modified xsi:type="dcterms:W3CDTF">2026-01-03T17:09:39Z</dcterms:modified>
</cp:coreProperties>
</file>